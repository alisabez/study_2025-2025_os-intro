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4" Type="http://schemas.openxmlformats.org/officeDocument/2006/relationships/image" Target="../media/image3.jpg" /><Relationship Id="rId3" Type="http://schemas.openxmlformats.org/officeDocument/2006/relationships/image" Target="../media/image2.jpg" /><Relationship Id="rId2" Type="http://schemas.openxmlformats.org/officeDocument/2006/relationships/image" Target="../media/image1.jp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jp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6.jpg" /><Relationship Id="rId2" Type="http://schemas.openxmlformats.org/officeDocument/2006/relationships/image" Target="../media/image5.jp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4" Type="http://schemas.openxmlformats.org/officeDocument/2006/relationships/image" Target="../media/image10.jpg" /><Relationship Id="rId3" Type="http://schemas.openxmlformats.org/officeDocument/2006/relationships/image" Target="../media/image9.jpg" /><Relationship Id="rId2" Type="http://schemas.openxmlformats.org/officeDocument/2006/relationships/image" Target="../media/image8.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Лабораторная работа №2</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дисциплина: Архитектура компьютера</a:t>
            </a:r>
            <a:br/>
            <a:br/>
            <a:r>
              <a:rPr/>
              <a:t>Безходарнова Алиса Викторовна</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Цель работы</a:t>
            </a:r>
          </a:p>
        </p:txBody>
      </p:sp>
      <p:sp>
        <p:nvSpPr>
          <p:cNvPr id="3" name="Content Placeholder 2"/>
          <p:cNvSpPr>
            <a:spLocks noGrp="1"/>
          </p:cNvSpPr>
          <p:nvPr>
            <p:ph idx="1"/>
          </p:nvPr>
        </p:nvSpPr>
        <p:spPr/>
        <p:txBody>
          <a:bodyPr/>
          <a:lstStyle/>
          <a:p>
            <a:pPr lvl="0" indent="0" marL="0">
              <a:buNone/>
            </a:pPr>
            <a:r>
              <a:rPr/>
              <a:t>Изучить идеологию и применение средств контроля версий. Освоить умения по работе с git.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Задание</a:t>
            </a:r>
          </a:p>
        </p:txBody>
      </p:sp>
      <p:sp>
        <p:nvSpPr>
          <p:cNvPr id="3" name="Content Placeholder 2"/>
          <p:cNvSpPr>
            <a:spLocks noGrp="1"/>
          </p:cNvSpPr>
          <p:nvPr>
            <p:ph idx="1"/>
          </p:nvPr>
        </p:nvSpPr>
        <p:spPr/>
        <p:txBody>
          <a:bodyPr/>
          <a:lstStyle/>
          <a:p>
            <a:pPr lvl="0" indent="0" marL="0">
              <a:buNone/>
            </a:pPr>
            <a:r>
              <a:rPr/>
              <a:t>Создать базовую конфигурацию для работы с git. Создать ключ SSH. Создать ключ PGP. Настроить подписи git. Зарегистрироваться на Github. Создать локальный каталог для выполнения заданий по предмету.</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Теоретическое введение</a:t>
            </a:r>
          </a:p>
        </p:txBody>
      </p:sp>
      <p:sp>
        <p:nvSpPr>
          <p:cNvPr id="3" name="Content Placeholder 2"/>
          <p:cNvSpPr>
            <a:spLocks noGrp="1"/>
          </p:cNvSpPr>
          <p:nvPr>
            <p:ph idx="1"/>
          </p:nvPr>
        </p:nvSpPr>
        <p:spPr/>
        <p:txBody>
          <a:bodyPr/>
          <a:lstStyle/>
          <a:p>
            <a:pPr lvl="0" indent="0" marL="0">
              <a:buNone/>
            </a:pPr>
            <a:r>
              <a:rPr/>
              <a:t>Системы контроля версий (Version Control System, VCS) применяются при работе нескольких человек над одним проектом. Обычно основное дерево проекта хранится в локальном или удалённом репозитории, к которому настроен доступ для участников проекта. При внесении изменений в содержание проекта система контроля версий позволяет их фиксировать, совмещать изменения, произведённые разными участниками проекта, производить откат к любой более ранней версии проекта, если это требуется. В классических системах контроля версий используется централизованная модель, предполагающая наличие единого репозитория для хранения файлов. Выполнение большинства функций по управлению версиями осуществляется специальным сервером. Участник проекта (пользователь) перед началом работы посредством определённых команд получает нужную ему версию файлов. После внесения изменений, пользователь размещает новую версию в хранилище. При этом предыдущие версии не удаляются из центрального хранилища и к ним можно вернуться в любой момент. Сервер может сохранять не полную версию изменённых файлов, а производить так называемую дельта-компрессию — сохранять только изменения между последовательными версиями, что позволяет уменьшить объём хранимых данных. Системы контроля версий поддерживают возможность отслеживания и разрешения конфликтов, которые могут возникнуть при работе нескольких человек над одним файлом. Можно объединить (слить) изменения, сделанные разными участниками (автоматически или вручную), вручную выбрать нужную версию, отменить изменения вовсе или заблокировать файлы для изменения. В зависимости от настроек блокировка не позволяет другим пользователям получить рабочую копию или препятствует изменению рабочей копии файла средствами файловой системы ОС, обеспечивая таким образом, привилегированный доступ только одному пользователю, работающему с файлом. Системы контроля версий также могут обеспечивать дополнительные, более гибкие функциональные возможности.Например, они могут поддерживать работу с несколькими версиями одного файла, сохраняя общую историю изменений до точки ветвления версий и собственные истории изменений каждой ветви. Кроме того, обычно доступна информация о том, кто из участников, когда и какие изменения вносил. Обычно такого рода информация хранится в журнале изменений, доступ к которому можно ограничить. В отличие от классических, в распределённых системах контроля версий центральный репозиторий не является обязательным. Среди классических VCS наиболее известны CVS, Subversion, а среди распределённых — Git, Bazaar, Mercurial. Принципы их работы схожи, отличаются они в основном синтаксисом используемых в работе команд.</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Выполнение лабораторной работы</a:t>
            </a:r>
          </a:p>
        </p:txBody>
      </p:sp>
      <p:sp>
        <p:nvSpPr>
          <p:cNvPr id="4" name="Text Placeholder 3"/>
          <p:cNvSpPr>
            <a:spLocks noGrp="1"/>
          </p:cNvSpPr>
          <p:nvPr>
            <p:ph idx="2" sz="half" type="body"/>
          </p:nvPr>
        </p:nvSpPr>
        <p:spPr/>
        <p:txBody>
          <a:bodyPr/>
          <a:lstStyle/>
          <a:p>
            <a:pPr lvl="0" indent="0" marL="0">
              <a:buNone/>
            </a:pPr>
            <a:r>
              <a:rPr/>
              <a:t>Выполняю базовую настройку git (рис. @fig:git-config).</a:t>
            </a:r>
          </a:p>
        </p:txBody>
      </p:sp>
      <p:pic>
        <p:nvPicPr>
          <p:cNvPr descr="image/1.jpg" id="0" name="Picture 1"/>
          <p:cNvPicPr>
            <a:picLocks noGrp="1" noChangeAspect="1"/>
          </p:cNvPicPr>
          <p:nvPr/>
        </p:nvPicPr>
        <p:blipFill>
          <a:blip r:embed="rId2"/>
          <a:stretch>
            <a:fillRect/>
          </a:stretch>
        </p:blipFill>
        <p:spPr bwMode="auto">
          <a:xfrm>
            <a:off x="3568700" y="1739900"/>
            <a:ext cx="5105400" cy="8001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Рис 4.1 Конфигурация git</a:t>
            </a:r>
          </a:p>
        </p:txBody>
      </p:sp>
      <p:sp>
        <p:nvSpPr>
          <p:cNvPr id="3" name="Content Placeholder 2"/>
          <p:cNvSpPr>
            <a:spLocks noGrp="1"/>
          </p:cNvSpPr>
          <p:nvPr>
            <p:ph idx="1"/>
          </p:nvPr>
        </p:nvSpPr>
        <p:spPr/>
        <p:txBody>
          <a:bodyPr/>
          <a:lstStyle/>
          <a:p>
            <a:pPr lvl="0" indent="0" marL="0">
              <a:buNone/>
            </a:pPr>
            <a:r>
              <a:rPr/>
              <a:t>Создаю ключ ssh (рис. @fig:ssh).</a:t>
            </a:r>
          </a:p>
        </p:txBody>
      </p:sp>
      <p:pic>
        <p:nvPicPr>
          <p:cNvPr descr="image/2.jpg" id="0" name="Picture 1"/>
          <p:cNvPicPr>
            <a:picLocks noGrp="1" noChangeAspect="1"/>
          </p:cNvPicPr>
          <p:nvPr/>
        </p:nvPicPr>
        <p:blipFill>
          <a:blip r:embed="rId3"/>
          <a:stretch>
            <a:fillRect/>
          </a:stretch>
        </p:blipFill>
        <p:spPr bwMode="auto">
          <a:xfrm>
            <a:off x="3568700" y="1905000"/>
            <a:ext cx="5105400" cy="4572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Рис 4.2 Создание ssh ключа</a:t>
            </a:r>
          </a:p>
        </p:txBody>
      </p:sp>
      <p:sp>
        <p:nvSpPr>
          <p:cNvPr id="3" name="Content Placeholder 2"/>
          <p:cNvSpPr>
            <a:spLocks noGrp="1"/>
          </p:cNvSpPr>
          <p:nvPr>
            <p:ph idx="1"/>
          </p:nvPr>
        </p:nvSpPr>
        <p:spPr/>
        <p:txBody>
          <a:bodyPr/>
          <a:lstStyle/>
          <a:p>
            <a:pPr lvl="0" indent="0" marL="0">
              <a:buNone/>
            </a:pPr>
            <a:r>
              <a:rPr/>
              <a:t>Создаю ключ gpg (Рис @fig:gpg).</a:t>
            </a:r>
          </a:p>
        </p:txBody>
      </p:sp>
      <p:pic>
        <p:nvPicPr>
          <p:cNvPr descr="image/5.jpg" id="0" name="Picture 1"/>
          <p:cNvPicPr>
            <a:picLocks noGrp="1" noChangeAspect="1"/>
          </p:cNvPicPr>
          <p:nvPr/>
        </p:nvPicPr>
        <p:blipFill>
          <a:blip r:embed="rId4"/>
          <a:stretch>
            <a:fillRect/>
          </a:stretch>
        </p:blipFill>
        <p:spPr bwMode="auto">
          <a:xfrm>
            <a:off x="3632200" y="203200"/>
            <a:ext cx="4978400" cy="38735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Рис 4.3 Создание gpg ключа</a:t>
            </a:r>
          </a:p>
        </p:txBody>
      </p:sp>
      <p:sp>
        <p:nvSpPr>
          <p:cNvPr id="3" name="Content Placeholder 2"/>
          <p:cNvSpPr>
            <a:spLocks noGrp="1"/>
          </p:cNvSpPr>
          <p:nvPr>
            <p:ph idx="1"/>
          </p:nvPr>
        </p:nvSpPr>
        <p:spPr/>
        <p:txBody>
          <a:bodyPr/>
          <a:lstStyle/>
          <a:p>
            <a:pPr lvl="0" indent="0" marL="0">
              <a:buNone/>
            </a:pPr>
            <a:r>
              <a:rPr/>
              <a:t>Получаю ключи и подключаю их к гитхабу (Рис @fig:git)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3.jpg" id="0" name="Picture 1"/>
          <p:cNvPicPr>
            <a:picLocks noGrp="1" noChangeAspect="1"/>
          </p:cNvPicPr>
          <p:nvPr/>
        </p:nvPicPr>
        <p:blipFill>
          <a:blip r:embed="rId2"/>
          <a:stretch>
            <a:fillRect/>
          </a:stretch>
        </p:blipFill>
        <p:spPr bwMode="auto">
          <a:xfrm>
            <a:off x="1841500" y="1193800"/>
            <a:ext cx="54610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Рис 4.4 подключение ключа</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{#fig:git width=70%)</a:t>
            </a:r>
          </a:p>
          <a:p>
            <a:pPr lvl="0" indent="0" marL="0">
              <a:buNone/>
            </a:pPr>
            <a:r>
              <a:rPr/>
              <a:t>И (Рис. @fig:gitt)</a:t>
            </a:r>
          </a:p>
        </p:txBody>
      </p:sp>
      <p:pic>
        <p:nvPicPr>
          <p:cNvPr descr="image/9.jpg" id="0" name="Picture 1"/>
          <p:cNvPicPr>
            <a:picLocks noGrp="1" noChangeAspect="1"/>
          </p:cNvPicPr>
          <p:nvPr/>
        </p:nvPicPr>
        <p:blipFill>
          <a:blip r:embed="rId2"/>
          <a:stretch>
            <a:fillRect/>
          </a:stretch>
        </p:blipFill>
        <p:spPr bwMode="auto">
          <a:xfrm>
            <a:off x="3568700" y="1143000"/>
            <a:ext cx="5105400" cy="1993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Рис 4.5 Подключение ключа</a:t>
            </a:r>
          </a:p>
        </p:txBody>
      </p:sp>
      <p:sp>
        <p:nvSpPr>
          <p:cNvPr id="3" name="Content Placeholder 2"/>
          <p:cNvSpPr>
            <a:spLocks noGrp="1"/>
          </p:cNvSpPr>
          <p:nvPr>
            <p:ph idx="1"/>
          </p:nvPr>
        </p:nvSpPr>
        <p:spPr/>
        <p:txBody>
          <a:bodyPr/>
          <a:lstStyle/>
          <a:p>
            <a:pPr lvl="0" indent="0" marL="0">
              <a:buNone/>
            </a:pPr>
            <a:r>
              <a:rPr/>
              <a:t>Настраиваю автоматические подписи (Рис @fig:006)</a:t>
            </a:r>
          </a:p>
        </p:txBody>
      </p:sp>
      <p:pic>
        <p:nvPicPr>
          <p:cNvPr descr="image/10.jpg" id="0" name="Picture 1"/>
          <p:cNvPicPr>
            <a:picLocks noGrp="1" noChangeAspect="1"/>
          </p:cNvPicPr>
          <p:nvPr/>
        </p:nvPicPr>
        <p:blipFill>
          <a:blip r:embed="rId3"/>
          <a:stretch>
            <a:fillRect/>
          </a:stretch>
        </p:blipFill>
        <p:spPr bwMode="auto">
          <a:xfrm>
            <a:off x="3568700" y="1079500"/>
            <a:ext cx="5105400" cy="21082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Рис 4.6 Подписи для коммитов</a:t>
            </a:r>
          </a:p>
        </p:txBody>
      </p:sp>
      <p:sp>
        <p:nvSpPr>
          <p:cNvPr id="3" name="Content Placeholder 2"/>
          <p:cNvSpPr>
            <a:spLocks noGrp="1"/>
          </p:cNvSpPr>
          <p:nvPr>
            <p:ph idx="1"/>
          </p:nvPr>
        </p:nvSpPr>
        <p:spPr/>
        <p:txBody>
          <a:bodyPr/>
          <a:lstStyle/>
          <a:p>
            <a:pPr lvl="0" indent="0" marL="0">
              <a:buNone/>
            </a:pPr>
            <a:r>
              <a:rPr/>
              <a:t>Авторизуюсь на гитхаб через терминал (Рис @fig:007)</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11.jpg" id="0" name="Picture 1"/>
          <p:cNvPicPr>
            <a:picLocks noGrp="1" noChangeAspect="1"/>
          </p:cNvPicPr>
          <p:nvPr/>
        </p:nvPicPr>
        <p:blipFill>
          <a:blip r:embed="rId2"/>
          <a:stretch>
            <a:fillRect/>
          </a:stretch>
        </p:blipFill>
        <p:spPr bwMode="auto">
          <a:xfrm>
            <a:off x="457200" y="1828800"/>
            <a:ext cx="8229600" cy="161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Рис 4.7 Авторизация на github</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{#fig:007 width=70%)</a:t>
            </a:r>
          </a:p>
          <a:p>
            <a:pPr lvl="0" indent="0" marL="0">
              <a:buNone/>
            </a:pPr>
            <a:r>
              <a:rPr/>
              <a:t>И (Рис @fig:008)</a:t>
            </a:r>
          </a:p>
        </p:txBody>
      </p:sp>
      <p:pic>
        <p:nvPicPr>
          <p:cNvPr descr="image/12.jpg" id="0" name="Picture 1"/>
          <p:cNvPicPr>
            <a:picLocks noGrp="1" noChangeAspect="1"/>
          </p:cNvPicPr>
          <p:nvPr/>
        </p:nvPicPr>
        <p:blipFill>
          <a:blip r:embed="rId2"/>
          <a:stretch>
            <a:fillRect/>
          </a:stretch>
        </p:blipFill>
        <p:spPr bwMode="auto">
          <a:xfrm>
            <a:off x="3568700" y="368300"/>
            <a:ext cx="5105400" cy="35433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Рис 4.8 Авторизация на гитхаб</a:t>
            </a:r>
          </a:p>
        </p:txBody>
      </p:sp>
      <p:sp>
        <p:nvSpPr>
          <p:cNvPr id="3" name="Content Placeholder 2"/>
          <p:cNvSpPr>
            <a:spLocks noGrp="1"/>
          </p:cNvSpPr>
          <p:nvPr>
            <p:ph idx="1"/>
          </p:nvPr>
        </p:nvSpPr>
        <p:spPr/>
        <p:txBody>
          <a:bodyPr/>
          <a:lstStyle/>
          <a:p>
            <a:pPr lvl="0" indent="0" marL="0">
              <a:buNone/>
            </a:pPr>
            <a:r>
              <a:rPr/>
              <a:t>Создаю директорию курса через шаблон (Рис.-@fig:009)</a:t>
            </a:r>
          </a:p>
        </p:txBody>
      </p:sp>
      <p:pic>
        <p:nvPicPr>
          <p:cNvPr descr="image/13.jpg" id="0" name="Picture 1"/>
          <p:cNvPicPr>
            <a:picLocks noGrp="1" noChangeAspect="1"/>
          </p:cNvPicPr>
          <p:nvPr/>
        </p:nvPicPr>
        <p:blipFill>
          <a:blip r:embed="rId3"/>
          <a:stretch>
            <a:fillRect/>
          </a:stretch>
        </p:blipFill>
        <p:spPr bwMode="auto">
          <a:xfrm>
            <a:off x="3771900" y="203200"/>
            <a:ext cx="4699000" cy="38735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Рис 4.9 Создание директории курса</a:t>
            </a:r>
          </a:p>
        </p:txBody>
      </p:sp>
      <p:sp>
        <p:nvSpPr>
          <p:cNvPr id="3" name="Content Placeholder 2"/>
          <p:cNvSpPr>
            <a:spLocks noGrp="1"/>
          </p:cNvSpPr>
          <p:nvPr>
            <p:ph idx="1"/>
          </p:nvPr>
        </p:nvSpPr>
        <p:spPr/>
        <p:txBody>
          <a:bodyPr/>
          <a:lstStyle/>
          <a:p>
            <a:pPr lvl="0" indent="0" marL="0">
              <a:buNone/>
            </a:pPr>
            <a:r>
              <a:rPr/>
              <a:t>И настраиваю рабочую директорию (Рис. @fig:010)</a:t>
            </a:r>
          </a:p>
        </p:txBody>
      </p:sp>
      <p:pic>
        <p:nvPicPr>
          <p:cNvPr descr="image/14.jpg" id="0" name="Picture 1"/>
          <p:cNvPicPr>
            <a:picLocks noGrp="1" noChangeAspect="1"/>
          </p:cNvPicPr>
          <p:nvPr/>
        </p:nvPicPr>
        <p:blipFill>
          <a:blip r:embed="rId4"/>
          <a:stretch>
            <a:fillRect/>
          </a:stretch>
        </p:blipFill>
        <p:spPr bwMode="auto">
          <a:xfrm>
            <a:off x="3568700" y="393700"/>
            <a:ext cx="5105400" cy="34925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Рис 4.10 Настройка директории</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Вывод</a:t>
            </a:r>
          </a:p>
        </p:txBody>
      </p:sp>
      <p:sp>
        <p:nvSpPr>
          <p:cNvPr id="3" name="Content Placeholder 2"/>
          <p:cNvSpPr>
            <a:spLocks noGrp="1"/>
          </p:cNvSpPr>
          <p:nvPr>
            <p:ph idx="1"/>
          </p:nvPr>
        </p:nvSpPr>
        <p:spPr/>
        <p:txBody>
          <a:bodyPr/>
          <a:lstStyle/>
          <a:p>
            <a:pPr lvl="0" indent="0" marL="0">
              <a:buNone/>
            </a:pPr>
            <a:r>
              <a:rPr/>
              <a:t>В ходе данной лабораторной работы я изучала идеологию и применение средств контроля версий, а также освоила работу с git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Контрольные вопросы</a:t>
            </a:r>
          </a:p>
        </p:txBody>
      </p:sp>
      <p:sp>
        <p:nvSpPr>
          <p:cNvPr id="3" name="Content Placeholder 2"/>
          <p:cNvSpPr>
            <a:spLocks noGrp="1"/>
          </p:cNvSpPr>
          <p:nvPr>
            <p:ph idx="1"/>
          </p:nvPr>
        </p:nvSpPr>
        <p:spPr/>
        <p:txBody>
          <a:bodyPr/>
          <a:lstStyle/>
          <a:p>
            <a:pPr lvl="0" indent="-342900" marL="342900">
              <a:buAutoNum type="arabicPeriod"/>
            </a:pPr>
            <a:r>
              <a:rPr/>
              <a:t>Что такое системы контроля версий (VCS) и для решения каких задач они предназначаются? Системы контроля версий применяются при работе нескольких человек над одним проектом. Они позволяют фиксировать изменения, совмещать изменения разных участников, производить откат к любой более ранней версии проекта.</a:t>
            </a:r>
          </a:p>
          <a:p>
            <a:pPr lvl="0" indent="-342900" marL="342900">
              <a:buAutoNum type="arabicPeriod"/>
            </a:pPr>
            <a:r>
              <a:rPr/>
              <a:t>Объясните следующие понятия VCS и их отношения: хранилище, commit, история, рабочая копия. Хранилище — место хранения всех файлов проекта и истории изменений (в Git это папка .git). Commit — операция сохранения изменений в репозитории. История — последовательность коммитов, отражающая все изменения проекта. Рабочая копия — файлы проекта на локальном компьютере, с которыми непосредственно работает пользователь.</a:t>
            </a:r>
          </a:p>
          <a:p>
            <a:pPr lvl="0" indent="-342900" marL="342900">
              <a:buAutoNum type="arabicPeriod"/>
            </a:pPr>
            <a:r>
              <a:rPr/>
              <a:t>Что представляют собой и чем отличаются централизованные и децентрализованные VCS? Приведите примеры VCS каждого вида. В классических системах используется централизованная модель, предполагающая наличие единого репозитория для хранения файлов. Выполнение большинства функций по управлению версиями осуществляется специальным сервером. Примеры: CVS, Subversion. В отличие от классических, в распределённых системах контроля версий центральный репозиторий не является обязательным. Примеры: Git, Bazaar, Mercurial.</a:t>
            </a:r>
          </a:p>
          <a:p>
            <a:pPr lvl="0" indent="-342900" marL="342900">
              <a:buAutoNum type="arabicPeriod"/>
            </a:pPr>
            <a:r>
              <a:rPr/>
              <a:t>Опишите действия с VCS при единоличной работе с хранилищем. Инициализация репозитория (git init), создание и изменение файлов, добавление их в индекс (git add), фиксация изменений (git commit).</a:t>
            </a:r>
          </a:p>
          <a:p>
            <a:pPr lvl="0" indent="-342900" marL="342900">
              <a:buAutoNum type="arabicPeriod"/>
            </a:pPr>
            <a:r>
              <a:rPr/>
              <a:t>Опишите порядок работы с общим хранилищем VCS. Получение актуальной версии из центрального репозитория (git pull), создание новой ветки (git checkout -b имя_ветки), внесение изменений, добавление (git add) и фиксация (git commit), отправка изменений в центральный репозиторий (git push origin имя_ветки).</a:t>
            </a:r>
          </a:p>
          <a:p>
            <a:pPr lvl="0" indent="-342900" marL="342900">
              <a:buAutoNum type="arabicPeriod"/>
            </a:pPr>
            <a:r>
              <a:rPr/>
              <a:t>Каковы основные задачи, решаемые инструментальным средством git? Управление версиями, обеспечение совместной работы над проектом, возможность отката к любой предыдущей версии, поддержка ветвления и слияния.</a:t>
            </a:r>
          </a:p>
          <a:p>
            <a:pPr lvl="0" indent="-342900" marL="342900">
              <a:buAutoNum type="arabicPeriod"/>
            </a:pPr>
            <a:r>
              <a:rPr/>
              <a:t>Назовите и дайте краткую характеристику командам git. git init — создание нового репозитория</a:t>
            </a:r>
          </a:p>
          <a:p>
            <a:pPr lvl="0" indent="0" marL="0">
              <a:buNone/>
            </a:pPr>
            <a:r>
              <a:rPr/>
              <a:t>git add — добавление изменений в индекс</a:t>
            </a:r>
          </a:p>
          <a:p>
            <a:pPr lvl="0" indent="0" marL="0">
              <a:buNone/>
            </a:pPr>
            <a:r>
              <a:rPr/>
              <a:t>git commit — фиксация изменений</a:t>
            </a:r>
          </a:p>
          <a:p>
            <a:pPr lvl="0" indent="0" marL="0">
              <a:buNone/>
            </a:pPr>
            <a:r>
              <a:rPr/>
              <a:t>git push — отправка изменений в удалённый репозиторий</a:t>
            </a:r>
          </a:p>
          <a:p>
            <a:pPr lvl="0" indent="0" marL="0">
              <a:buNone/>
            </a:pPr>
            <a:r>
              <a:rPr/>
              <a:t>git pull — получение изменений из удалённого репозитория</a:t>
            </a:r>
          </a:p>
          <a:p>
            <a:pPr lvl="0" indent="0" marL="0">
              <a:buNone/>
            </a:pPr>
            <a:r>
              <a:rPr/>
              <a:t>git status — просмотр состояния файлов</a:t>
            </a:r>
          </a:p>
          <a:p>
            <a:pPr lvl="0" indent="0" marL="0">
              <a:buNone/>
            </a:pPr>
            <a:r>
              <a:rPr/>
              <a:t>git log — просмотр истории коммитов</a:t>
            </a:r>
          </a:p>
          <a:p>
            <a:pPr lvl="0" indent="0" marL="0">
              <a:buNone/>
            </a:pPr>
            <a:r>
              <a:rPr/>
              <a:t>git checkout — переключение между ветками</a:t>
            </a:r>
          </a:p>
          <a:p>
            <a:pPr lvl="0" indent="0" marL="0">
              <a:buNone/>
            </a:pPr>
            <a:r>
              <a:rPr/>
              <a:t>git branch — управление ветками</a:t>
            </a:r>
          </a:p>
          <a:p>
            <a:pPr lvl="0" indent="0" marL="0">
              <a:buNone/>
            </a:pPr>
            <a:r>
              <a:rPr/>
              <a:t>git merge — слияние веток 8. Приведите примеры использования при работе с локальным и удалённым репозиториями. Локальный репозиторий: mkdir tutorial; cd tutorial; git init; echo ‘hello world’ &gt; hello.txt; git add hello.txt; git commit -am ‘Новый файл’ Удалённый репозиторий: git remote add origin ssh://git@github.com/username/reponame.git; git push -u origin master 9. Что такое и зачем могут быть нужны ветви (branches)? Ветви позволяют вести параллельную разработку, изолировать изменения, экспериментировать, не затрагивая основную версию проекта, а затем объединять изменения через слияние. 10. Как и зачем можно игнорировать некоторые файлы при commit? Для этого создаётся файл .gitignore, в который прописываются шаблоны файлов и каталогов (например, </a:t>
            </a:r>
            <a:r>
              <a:rPr i="1"/>
              <a:t>.tmp, </a:t>
            </a:r>
            <a:r>
              <a:rPr/>
              <a:t>.o, build/), которые не должны попадать в репозиторий. Это позволяет исключить временные файлы, объектные файлы, создаваемые компиляторами, и другие служебные данные.</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Список литературы</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Лабораторная работа №2</dc:title>
  <dc:creator>Безходарнова Алиса Викторовна</dc:creator>
  <cp:keywords/>
  <dcterms:created xsi:type="dcterms:W3CDTF">2026-03-04T10:03:54Z</dcterms:created>
  <dcterms:modified xsi:type="dcterms:W3CDTF">2026-03-04T10:03:54Z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abel-lang">
    <vt:lpwstr>russian</vt:lpwstr>
  </property>
  <property fmtid="{D5CDD505-2E9C-101B-9397-08002B2CF9AE}" pid="3" name="babel-otherlangs">
    <vt:lpwstr>english</vt:lpwstr>
  </property>
  <property fmtid="{D5CDD505-2E9C-101B-9397-08002B2CF9AE}" pid="4" name="biblatex">
    <vt:lpwstr>True</vt:lpwstr>
  </property>
  <property fmtid="{D5CDD505-2E9C-101B-9397-08002B2CF9AE}" pid="5" name="biblatexoptions">
    <vt:lpwstr/>
  </property>
  <property fmtid="{D5CDD505-2E9C-101B-9397-08002B2CF9AE}" pid="6" name="biblio-style">
    <vt:lpwstr>gost-numeric</vt:lpwstr>
  </property>
  <property fmtid="{D5CDD505-2E9C-101B-9397-08002B2CF9AE}" pid="7" name="bibliography">
    <vt:lpwstr>bib/cite.bib</vt:lpwstr>
  </property>
  <property fmtid="{D5CDD505-2E9C-101B-9397-08002B2CF9AE}" pid="8" name="csl">
    <vt:lpwstr>pandoc/csl/gost-r-7-0-5-2008-numeric.csl</vt:lpwstr>
  </property>
  <property fmtid="{D5CDD505-2E9C-101B-9397-08002B2CF9AE}" pid="9" name="documentclass">
    <vt:lpwstr>scrreprt</vt:lpwstr>
  </property>
  <property fmtid="{D5CDD505-2E9C-101B-9397-08002B2CF9AE}" pid="10" name="figureTitle">
    <vt:lpwstr>Рис.</vt:lpwstr>
  </property>
  <property fmtid="{D5CDD505-2E9C-101B-9397-08002B2CF9AE}" pid="11" name="fontsize">
    <vt:lpwstr>12pt</vt:lpwstr>
  </property>
  <property fmtid="{D5CDD505-2E9C-101B-9397-08002B2CF9AE}" pid="12" name="header-includes">
    <vt:lpwstr/>
  </property>
  <property fmtid="{D5CDD505-2E9C-101B-9397-08002B2CF9AE}" pid="13" name="indent">
    <vt:lpwstr>True</vt:lpwstr>
  </property>
  <property fmtid="{D5CDD505-2E9C-101B-9397-08002B2CF9AE}" pid="14" name="linestretch">
    <vt:lpwstr>1.5</vt:lpwstr>
  </property>
  <property fmtid="{D5CDD505-2E9C-101B-9397-08002B2CF9AE}" pid="15" name="listingTitle">
    <vt:lpwstr>Листинг</vt:lpwstr>
  </property>
  <property fmtid="{D5CDD505-2E9C-101B-9397-08002B2CF9AE}" pid="16" name="lof">
    <vt:lpwstr>True</vt:lpwstr>
  </property>
  <property fmtid="{D5CDD505-2E9C-101B-9397-08002B2CF9AE}" pid="17" name="lofTitle">
    <vt:lpwstr>Список иллюстраций</vt:lpwstr>
  </property>
  <property fmtid="{D5CDD505-2E9C-101B-9397-08002B2CF9AE}" pid="18" name="lolTitle">
    <vt:lpwstr>Листинги</vt:lpwstr>
  </property>
  <property fmtid="{D5CDD505-2E9C-101B-9397-08002B2CF9AE}" pid="19" name="lot">
    <vt:lpwstr>True</vt:lpwstr>
  </property>
  <property fmtid="{D5CDD505-2E9C-101B-9397-08002B2CF9AE}" pid="20" name="lotTitle">
    <vt:lpwstr>Список таблиц</vt:lpwstr>
  </property>
  <property fmtid="{D5CDD505-2E9C-101B-9397-08002B2CF9AE}" pid="21" name="mainfont">
    <vt:lpwstr>IBM Plex Serif</vt:lpwstr>
  </property>
  <property fmtid="{D5CDD505-2E9C-101B-9397-08002B2CF9AE}" pid="22" name="mainfontoptions">
    <vt:lpwstr>Ligatures=Common,Ligatures=TeX,Scale=0.94</vt:lpwstr>
  </property>
  <property fmtid="{D5CDD505-2E9C-101B-9397-08002B2CF9AE}" pid="23" name="mathfont">
    <vt:lpwstr>STIX Two Math</vt:lpwstr>
  </property>
  <property fmtid="{D5CDD505-2E9C-101B-9397-08002B2CF9AE}" pid="24" name="mathfontoptions">
    <vt:lpwstr/>
  </property>
  <property fmtid="{D5CDD505-2E9C-101B-9397-08002B2CF9AE}" pid="25" name="monofont">
    <vt:lpwstr>IBM Plex Mono</vt:lpwstr>
  </property>
  <property fmtid="{D5CDD505-2E9C-101B-9397-08002B2CF9AE}" pid="26" name="monofontoptions">
    <vt:lpwstr>Scale=MatchLowercase,Scale=0.94,FakeStretch=0.9</vt:lpwstr>
  </property>
  <property fmtid="{D5CDD505-2E9C-101B-9397-08002B2CF9AE}" pid="27" name="papersize">
    <vt:lpwstr>a4</vt:lpwstr>
  </property>
  <property fmtid="{D5CDD505-2E9C-101B-9397-08002B2CF9AE}" pid="28" name="polyglossia-lang">
    <vt:lpwstr/>
  </property>
  <property fmtid="{D5CDD505-2E9C-101B-9397-08002B2CF9AE}" pid="29" name="polyglossia-otherlangs">
    <vt:lpwstr/>
  </property>
  <property fmtid="{D5CDD505-2E9C-101B-9397-08002B2CF9AE}" pid="30" name="romanfont">
    <vt:lpwstr>IBM Plex Serif</vt:lpwstr>
  </property>
  <property fmtid="{D5CDD505-2E9C-101B-9397-08002B2CF9AE}" pid="31" name="romanfontoptions">
    <vt:lpwstr>Ligatures=Common,Ligatures=TeX,Scale=0.94</vt:lpwstr>
  </property>
  <property fmtid="{D5CDD505-2E9C-101B-9397-08002B2CF9AE}" pid="32" name="sansfont">
    <vt:lpwstr>IBM Plex Sans</vt:lpwstr>
  </property>
  <property fmtid="{D5CDD505-2E9C-101B-9397-08002B2CF9AE}" pid="33" name="sansfontoptions">
    <vt:lpwstr>Ligatures=Common,Ligatures=TeX,Scale=MatchLowercase,Scale=0.94</vt:lpwstr>
  </property>
  <property fmtid="{D5CDD505-2E9C-101B-9397-08002B2CF9AE}" pid="34" name="subtitle">
    <vt:lpwstr>дисциплина: Архитектура компьютера</vt:lpwstr>
  </property>
  <property fmtid="{D5CDD505-2E9C-101B-9397-08002B2CF9AE}" pid="35" name="tableTitle">
    <vt:lpwstr>Таблица</vt:lpwstr>
  </property>
  <property fmtid="{D5CDD505-2E9C-101B-9397-08002B2CF9AE}" pid="36" name="toc">
    <vt:lpwstr>True</vt:lpwstr>
  </property>
  <property fmtid="{D5CDD505-2E9C-101B-9397-08002B2CF9AE}" pid="37" name="toc-depth">
    <vt:lpwstr>2</vt:lpwstr>
  </property>
  <property fmtid="{D5CDD505-2E9C-101B-9397-08002B2CF9AE}" pid="38" name="toc-title">
    <vt:lpwstr>Содержание</vt:lpwstr>
  </property>
</Properties>
</file>